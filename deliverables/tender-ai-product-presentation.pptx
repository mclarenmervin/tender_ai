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665026f3c4c6a" /><Relationship Type="http://schemas.openxmlformats.org/officeDocument/2006/relationships/extended-properties" Target="/docProps/app.xml" Id="Rab2c1bcd04424e69" /><Relationship Type="http://schemas.openxmlformats.org/officeDocument/2006/relationships/officeDocument" Target="/ppt/presentation.xml" Id="Rcb4c208bc405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72b4cc80a440e"/>
  </p:sldMasterIdLst>
  <p:notesMasterIdLst>
    <p:notesMasterId xmlns:r="http://schemas.openxmlformats.org/officeDocument/2006/relationships" r:id="R1ae31a170bb84d82"/>
  </p:notesMasterIdLst>
  <p:sldIdLst>
    <p:sldId xmlns:r="http://schemas.openxmlformats.org/officeDocument/2006/relationships" id="256" r:id="R1ae3de4cb2a94177"/>
    <p:sldId xmlns:r="http://schemas.openxmlformats.org/officeDocument/2006/relationships" id="257" r:id="Rba609aff57a94f24"/>
    <p:sldId xmlns:r="http://schemas.openxmlformats.org/officeDocument/2006/relationships" id="258" r:id="Rf089de9a99534d46"/>
    <p:sldId xmlns:r="http://schemas.openxmlformats.org/officeDocument/2006/relationships" id="259" r:id="Rc858abe354f64cb5"/>
    <p:sldId xmlns:r="http://schemas.openxmlformats.org/officeDocument/2006/relationships" id="260" r:id="Ref075e35936e4e09"/>
    <p:sldId xmlns:r="http://schemas.openxmlformats.org/officeDocument/2006/relationships" id="261" r:id="Rcc9dfc12f7934dd7"/>
    <p:sldId xmlns:r="http://schemas.openxmlformats.org/officeDocument/2006/relationships" id="262" r:id="R78b2df29cfb74c92"/>
    <p:sldId xmlns:r="http://schemas.openxmlformats.org/officeDocument/2006/relationships" id="263" r:id="R778ad5d41f4b40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72b4cc80a440e" /><Relationship Type="http://schemas.openxmlformats.org/officeDocument/2006/relationships/theme" Target="/ppt/theme/theme1.xml" Id="Rd9efdfc10bdb4af3" /><Relationship Type="http://schemas.openxmlformats.org/officeDocument/2006/relationships/notesMaster" Target="/ppt/notesMasters/notesMaster1.xml" Id="R1ae31a170bb84d82" /><Relationship Type="http://schemas.openxmlformats.org/officeDocument/2006/relationships/presProps" Target="/ppt/presProps.xml" Id="R2a31d4554a844861" /><Relationship Type="http://schemas.openxmlformats.org/officeDocument/2006/relationships/viewProps" Target="/ppt/viewProps.xml" Id="Rc316eccbb7ae4ed5" /><Relationship Type="http://schemas.openxmlformats.org/officeDocument/2006/relationships/tableStyles" Target="/ppt/tableStyles.xml" Id="Rce5d4a164ec84ac0" /><Relationship Type="http://schemas.openxmlformats.org/officeDocument/2006/relationships/slide" Target="/ppt/slides/slide1.xml" Id="R1ae3de4cb2a94177" /><Relationship Type="http://schemas.openxmlformats.org/officeDocument/2006/relationships/slide" Target="/ppt/slides/slide2.xml" Id="Rba609aff57a94f24" /><Relationship Type="http://schemas.openxmlformats.org/officeDocument/2006/relationships/slide" Target="/ppt/slides/slide3.xml" Id="Rf089de9a99534d46" /><Relationship Type="http://schemas.openxmlformats.org/officeDocument/2006/relationships/slide" Target="/ppt/slides/slide4.xml" Id="Rc858abe354f64cb5" /><Relationship Type="http://schemas.openxmlformats.org/officeDocument/2006/relationships/slide" Target="/ppt/slides/slide5.xml" Id="Ref075e35936e4e09" /><Relationship Type="http://schemas.openxmlformats.org/officeDocument/2006/relationships/slide" Target="/ppt/slides/slide6.xml" Id="Rcc9dfc12f7934dd7" /><Relationship Type="http://schemas.openxmlformats.org/officeDocument/2006/relationships/slide" Target="/ppt/slides/slide7.xml" Id="R78b2df29cfb74c92" /><Relationship Type="http://schemas.openxmlformats.org/officeDocument/2006/relationships/slide" Target="/ppt/slides/slide8.xml" Id="R778ad5d41f4b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d85aa862f84d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e6df2e5d634b64" /><Relationship Type="http://schemas.openxmlformats.org/officeDocument/2006/relationships/notesMaster" Target="/ppt/notesMasters/notesMaster1.xml" Id="R25c7ac784c9f48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9c3ddb57e49a4" /><Relationship Type="http://schemas.openxmlformats.org/officeDocument/2006/relationships/notesMaster" Target="/ppt/notesMasters/notesMaster1.xml" Id="R4b3c7b3d42b94d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47f394cbf54096" /><Relationship Type="http://schemas.openxmlformats.org/officeDocument/2006/relationships/notesMaster" Target="/ppt/notesMasters/notesMaster1.xml" Id="R8e62355c66bb4f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ffbda9adc4881" /><Relationship Type="http://schemas.openxmlformats.org/officeDocument/2006/relationships/notesMaster" Target="/ppt/notesMasters/notesMaster1.xml" Id="R132648035b1a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b0059bc654225" /><Relationship Type="http://schemas.openxmlformats.org/officeDocument/2006/relationships/notesMaster" Target="/ppt/notesMasters/notesMaster1.xml" Id="Re03b8f2ff5994c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1842b3d1f34944" /><Relationship Type="http://schemas.openxmlformats.org/officeDocument/2006/relationships/notesMaster" Target="/ppt/notesMasters/notesMaster1.xml" Id="R606748174a4b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f355f480e4ae4" /><Relationship Type="http://schemas.openxmlformats.org/officeDocument/2006/relationships/notesMaster" Target="/ppt/notesMasters/notesMaster1.xml" Id="Rba83aa2f64ab4d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d610f0e65f455c" /><Relationship Type="http://schemas.openxmlformats.org/officeDocument/2006/relationships/notesMaster" Target="/ppt/notesMasters/notesMaster1.xml" Id="R165c0bee791249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d7a22ca8f42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4a572fb70f4e68" /><Relationship Type="http://schemas.openxmlformats.org/officeDocument/2006/relationships/slideLayout" Target="/ppt/slideLayouts/slideLayout2.xml" Id="Rb41132da9b634f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132da9b634f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1c5af42d554dae" /><Relationship Type="http://schemas.openxmlformats.org/officeDocument/2006/relationships/notesSlide" Target="/ppt/notesSlides/notesSlide1.xml" Id="R3da257e20bcb4f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4f0237f344147" /><Relationship Type="http://schemas.openxmlformats.org/officeDocument/2006/relationships/notesSlide" Target="/ppt/notesSlides/notesSlide2.xml" Id="R8c10b6f61c44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2a0459e1874507" /><Relationship Type="http://schemas.openxmlformats.org/officeDocument/2006/relationships/notesSlide" Target="/ppt/notesSlides/notesSlide3.xml" Id="R3fcb7a240525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41841010e7474d" /><Relationship Type="http://schemas.openxmlformats.org/officeDocument/2006/relationships/notesSlide" Target="/ppt/notesSlides/notesSlide4.xml" Id="R31c3dcf9efb849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8d96427de4c34" /><Relationship Type="http://schemas.openxmlformats.org/officeDocument/2006/relationships/notesSlide" Target="/ppt/notesSlides/notesSlide5.xml" Id="Rc05f657d7c6a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03ca40ec84efd" /><Relationship Type="http://schemas.openxmlformats.org/officeDocument/2006/relationships/notesSlide" Target="/ppt/notesSlides/notesSlide6.xml" Id="R34ca7097dac24f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dcc796c2446d1" /><Relationship Type="http://schemas.openxmlformats.org/officeDocument/2006/relationships/notesSlide" Target="/ppt/notesSlides/notesSlide7.xml" Id="Re790551c5a0b4d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5b1532f1646ee" /><Relationship Type="http://schemas.openxmlformats.org/officeDocument/2006/relationships/notesSlide" Target="/ppt/notesSlides/notesSlide8.xml" Id="R268da70314144f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E35D0-10EF-42F2-B812-F98502A1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300DD-D878-473B-AE02-53A397CC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9CCC8-B5D5-409A-A509-B556467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GE M PROCUREMENT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2F4CE-3C74-4365-B881-9911209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FE9D7-682C-40AA-A654-40FBF72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1A6F2-EBD5-4EEC-8529-5D0D0B2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35D63-215C-4360-BE3B-FF666345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572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From tender discovery</a:t>
            </a:r>
          </a:p>
          <a:p xmlns:a="http://schemas.openxmlformats.org/drawingml/2006/main">
            <a:pPr algn="l">
              <a:defRPr sz="37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to procurement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20F4A-E57A-484E-92D2-840AF2CB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333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A focused operating system for GeM sellers and buyer intelligence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610E0-0247-4355-905D-F510BB3E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2952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D0095-753F-435A-82C1-95B520B8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955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rPr>
              <a:t>GE M • BID / RA • MARKET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36C4D-D0F7-49F4-A4D3-19F3CA45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BDF0D-64E3-4564-AB95-E0E7819C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27988-1634-4332-99C7-177D4F9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76825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2FF6F-B8A1-4BD3-8B46-9B377D1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workspaces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11C50-4194-41BB-B083-9C63F042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102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seller + 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8814-5D5E-4AF5-9ABC-9EED394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1755C-FC99-4D2F-A7F9-96400DB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76825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L1–L3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EBDFA-B60D-427D-A845-A93B538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57825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96073-DBA9-4ABF-ACBA-49C284C0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02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rank &amp; competition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3B56D-124A-4779-92AA-B0F51C8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66224-5B50-4387-8B96-8EE6186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076825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EMD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02937-E43A-482E-B62B-55EAA9B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457825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aware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96720-F076-49C9-92B9-4C63153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6102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criteria &amp;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BC83A-2B57-4B9E-BB70-DB1DAD53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09587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4CFDE-0205-4A87-BA39-965F922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76825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GeM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0514A-40DB-411F-8952-01F6BC8A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57825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connected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55B1F-31AF-40E1-99F3-888CA794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10225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public tender data</a:t>
            </a:r>
          </a:p>
        </p:txBody>
      </p:sp>
    </p:spTree>
    <p:extLst>
      <p:ext uri="{BB962C8B-B14F-4D97-AF65-F5344CB8AC3E}">
        <p14:creationId xmlns:p14="http://schemas.microsoft.com/office/powerpoint/2010/main" val="12138058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03364-0341-4ECF-8918-F810CA4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A5E0B-79B3-4730-918D-431063F2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216A1-CB09-4E18-868B-DE74586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2F9C4-62B3-4D0D-AA54-4C0B614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24B36-A3CA-4B5F-BB31-80C5E94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09A41-C5D6-40F4-9020-463BC5E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 H E   P R O B L E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44C68-A0C1-4EA4-AC75-ABC0BC8C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Tender teams lose time stitching together signals that should work as one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6885-F743-4AA6-B87A-FFB9040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Public listings, criteria, document readiness, bid activity, and results are usually separated across tools and spreadsheets.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4FCC4-78D3-497A-AAB4-59731E1F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1A402-6357-48E6-A72D-92F0CD2C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0CE3E-0939-4886-80AA-183B6A88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048C5-4A03-45AB-88BD-59DDDFC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Relevant GeM tenders surface late or are hard to filter.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8702C-F468-490B-B5A3-A531F4F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A46F3-E790-467E-9F85-2B46AD88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7D1ED-0943-4509-94E9-EC9AA7F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5E453-E7D8-48B2-9B38-FE36A3F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7930B-D826-4366-87DE-C8E57A3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0DD91-DC16-4F2E-A872-0AB66DAA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57650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Eligibility, EMD, and score logic are scattered.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22912-548B-4202-8162-0CE955F0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E1CC7-BB73-4113-B890-A962FF4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2CFFE-3C5A-4F95-AE48-9A313096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A512E-3F8A-4EC0-A5F7-126C9AD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C3118-BD1A-4AC4-BBAD-188A323F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95841-4438-49E1-825F-32057486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Bid documents and operational actions lack one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5CDED-D2A0-48DF-80A4-D3BA06C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21F8E-94AF-4D11-B7D2-84178239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9E469-5F27-45F6-A2C3-2A191DF7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35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A0A2D-566F-4716-BAB4-1F1471A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ACDCB-5269-4B93-B8A0-4D600CB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48E5C-676A-4E58-B2AC-860DFC6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1857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Completed results rarely become reusable market intelligence.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C9806C-FD94-4C64-A879-F15A3D5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B387E-547F-4613-9DA8-E36AE64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Tender AI closes this loop: discover → qualify → execute → analyze → improve.</a:t>
            </a:r>
          </a:p>
        </p:txBody>
      </p:sp>
    </p:spTree>
    <p:extLst>
      <p:ext uri="{BB962C8B-B14F-4D97-AF65-F5344CB8AC3E}">
        <p14:creationId xmlns:p14="http://schemas.microsoft.com/office/powerpoint/2010/main" val="54322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13A29-1072-4574-AEC8-312F1E3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83141-28F0-4210-8269-35C816B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D1310-B751-417D-AC27-DDE7F75A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0EE90-57D3-4FD9-A948-09F1649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524F3-DB6C-48AE-A813-4BA2835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311B7-832B-4304-9DF3-0705ED05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 L A T F O R M   M A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24370-C004-449A-8C3E-F9C878A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One evidence-led workflow connects the opportunity to the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BCD63-3005-42C2-BB77-7F8D0968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Each stage preserves the information needed by the next—rather than forcing teams to rebuild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AF24-594A-4D91-894C-817BC406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416CF-9251-4558-A2B8-D2D09D59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78A22-80AF-44F0-8BC9-11D243B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GeM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FE922-2967-4767-849A-04DC2BE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Live search +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E171D-EF59-4B49-A433-98873F3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7DAFF-29E9-4C17-A6B2-ECE42928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81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8EFDE-D50B-4171-B369-B93DEC2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4C09C-EA26-4952-8341-37C972AE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147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13054-DA07-4B16-87C4-13EE8AD6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57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9455B-B2C9-45AC-B2BA-33B4B2C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Criteria, EMD, relevance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84C75-C3C1-46BD-AD02-2437B01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29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5E51F-55EB-45D9-890D-78E92A6B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781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07EC1-AF1C-4636-95BA-1728F5A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641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3EBB-7647-41D7-8F63-ED710D26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E5230-7E5B-4E39-907A-341259DB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57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Bid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953B0-E181-4D98-97F9-C658ED8A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Readiness, Bid/RA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D6856-7684-47D4-AC9F-D7B45969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7634A-6F45-4B02-90AE-88555067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81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F30DB-4DC4-4F9E-AE34-7DF133F0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CF234-1BCC-449D-9185-832A458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147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B84C1-C439-495C-A540-2BA64AEC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57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Result intelligence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32D85-5DCE-43F1-932E-B9B74CE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Winner, ranks, bidders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81237-F813-4ACD-8315-3D10CA5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29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7CCDC-8C23-4C26-9BAA-AC3B9E4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81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60468-1AC4-4AE3-95F3-9C4BE7C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D3492-FC2A-4AA6-B4F1-763A415C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147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D9BC3-BB6D-4470-B5CA-4E5C578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Reports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07525F-C0E1-454E-A1FF-98162B4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Competition + dominance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5DE90-7AEC-4573-8264-6FC77A19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19700"/>
            <a:ext cx="461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0ABA1B-3B47-4287-936F-516739F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67325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rPr>
              <a:t>SINGLE CONTEXT ACROSS THE BUYER &amp; SELLER JOURNEY</a:t>
            </a:r>
          </a:p>
        </p:txBody>
      </p:sp>
    </p:spTree>
    <p:extLst>
      <p:ext uri="{BB962C8B-B14F-4D97-AF65-F5344CB8AC3E}">
        <p14:creationId xmlns:p14="http://schemas.microsoft.com/office/powerpoint/2010/main" val="1602375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C095D-EC98-4007-ABBC-3554438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495F6-E600-4896-827B-908A661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F3E3E-8FE2-4653-B6F3-E2730DB0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8671A-DF6C-45C1-8266-E999EFFE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A2B3D-F411-417C-911A-10EC7FF5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DB85F-CDC3-4907-AB19-5E10E1ED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 E L L E R   W O R K S P A C 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481DD-0A49-4596-8EC0-AF92F57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Seller teams turn tender volume into a disciplined bid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BF456-BF02-40F9-8C2E-B5444048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The workflow is designed to make bid decisions explainable before teams invest time in documents and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C816F-EC4D-4544-BE05-FE01227D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79FE6-9DA2-4C1A-AA8A-5C8D3D9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ED57C-979C-4EB6-BDDB-5D80AC61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9273E-4B0E-4E58-BEA4-55640CCF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search &amp; shortlist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13612-DA47-4A1D-A76D-E1FEEC9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961C9-4F2A-41AA-B802-A9463C8A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43200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EE3C3-4556-43D1-B002-F874528A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24200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B1D29-2CDE-4A31-BA86-6CADA9C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criteria + EMD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81457-23B6-4357-8AA1-9E7ACE13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595DB-9A12-4BDF-9044-769AED2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43200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93427-7268-4117-9632-CB916B77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24200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FB7D9-5BFD-42B9-9E6E-49A84AC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76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profile + catalogue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D713F-5562-49F7-99BE-796BB7FA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F4C58-8A69-48B3-AED4-457E0C5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1762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6F629-6CA9-4C29-81CC-AA1BA6A9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1762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64801-6BE0-4225-AE2F-8F06311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76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Bid / RA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69AAB-B73F-464B-9428-3E76E762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43410-6B93-4837-9005-0B6F2F1F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Tender criteria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DC45C-77F1-4061-8E3C-B3EED90D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33875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Positive / exclusion rules, profile-based matching, and EMD amount capture.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94F2A-7EF7-4DBF-8488-D0C11465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6C5DC-D176-4537-8743-E00BA12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Readiness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C8A2C-A7D5-4532-8564-D16C7AE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Seller profile, documents, catalogue, and evidence references in one 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6404F-A005-4808-92D1-D7F31F4A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35277-C520-48E9-B9E0-7815A01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Execution 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80AD8-C4E6-4558-B93B-9F98F339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81625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Bid/RA status, priority, fulfilment, order, and incident tracking.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07C5AE-AE16-48C4-9F1C-03D401F7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7799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A2E55-2109-466B-A854-D9DC5A4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7F877-ACDB-45BE-84DA-7221A7CD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5DA77-2A15-4F4C-991E-C61AB66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0966E-761D-4B14-88D4-EE80BC3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4B45D-0B92-4E2C-92E8-32545EB7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9F33B-E90F-4802-B8FA-547E70F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B U Y E R   I N T E L L I G E N C 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9AE5F-9E94-4659-9739-C3B15EC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Buyer portfolios reveal what happened after a tender closed.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B5714-686A-47BE-95D9-EDF3F53F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The system distinguishes open and completed tenders, synchronizes public result pages, and keeps unavailable or masked data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DA38D-8F0C-4349-B0E5-BC602AE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F8FF8-3854-4C64-87B8-D76B25A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F8DA3-902E-49BF-ACB3-7A79A6A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9082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Buyer Directory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AB035-BE27-4431-B7F5-AB2F665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71775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Select ministry, organization, and department; import public GeM tender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F6F8A-80FE-41A9-8CA9-3FF22B86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EEEE5-6C89-45AA-9C6D-51676151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21C61-550B-4C75-9682-482B878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2CB85-587B-46E0-84A7-58F6491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997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Published Tenders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B6D94-E817-4913-9B7D-3BEF752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View all selected buyer tenders, status, exact end time, EMD, and category.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2D0A1-2F9D-4803-89DD-790831E2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62D45-7BA5-49BD-B5EA-FA6A34DC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41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00765-6E09-4F01-9051-976E7E0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01251-2761-468D-8897-7AB8EAAD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Completed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7D5E6-9B92-4901-AF49-6B985C8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Capture public Bid/RA result information, award status, sellers, and result links.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099E6-E3DA-4627-AAC3-258F17C3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291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CA63F-A3CD-440D-A66D-F2A569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FDCD3-F124-46AD-AB68-E5624706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9F0AC-F8A1-4785-8C2E-88D3915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4827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Analysis &amp;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9AB13-B2BD-4D4D-A965-FD438B5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29225"/>
            <a:ext cx="704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Surface repeat bidders, L1/L2/L3 signals, winners, concentration, and risk observations.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86827-F7E0-4304-A0EA-7327ED4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483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2554F-11D7-4112-88BF-4D70010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05500"/>
            <a:ext cx="409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D9772-FFB3-4593-BF64-2BCF50CD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53125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rPr>
              <a:t>PUBLIC RESULTS • MASKED DATA REMAINS MARKED AS MASKED</a:t>
            </a:r>
          </a:p>
        </p:txBody>
      </p:sp>
    </p:spTree>
    <p:extLst>
      <p:ext uri="{BB962C8B-B14F-4D97-AF65-F5344CB8AC3E}">
        <p14:creationId xmlns:p14="http://schemas.microsoft.com/office/powerpoint/2010/main" val="11059958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F6E4C-0E6F-4659-A75C-0AB73F67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472B0-F573-4037-B34E-762BFA6C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DF56-2E2A-43E7-ABF6-08B027D3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9E81D-1927-4D5E-A87B-BF4933D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5E4BB-EDD2-4930-8C83-7025107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C4CC9-B8F9-4243-9415-DA894BBF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D E C I S I O N   I N T E L L I G E N C 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3AA68-54D2-4B3D-B484-5AC069A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Competition data becomes a structured market view—not a one-off result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3957-CF0A-4400-9CD7-5CCB3475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Analytics are evidence-based observations; they help prioritize research and decisions, not make unsupported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599A1-A267-44C1-A433-B5C05DEF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35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EC955-214F-4DF5-BC58-72C3D4C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WHO WINS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4122A-68CE-4209-A279-034C6987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Awarded sellers and recurring winners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5E2C8-25C9-439A-B01C-D48ABAC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57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89974-BFB6-4836-A220-82CBF85E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05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WHO COMPETES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2AB1B-6437-469B-835E-2C229FD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766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Repeated bidder groups across tenders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53DBC-547A-4969-92BF-1C7820B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1763E-919C-4B0A-BDCE-5EADB9F2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HOW PRICES MOVE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372F8-1285-4D77-B3AB-E66946D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L1/L2/L3 ranks and quoted-price gaps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BFCE4-B613-40F7-8D56-98C0C23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57500"/>
            <a:ext cx="2333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A251B-52C9-4799-9C37-BC6CE87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05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WHERE TO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94D69-8A50-47EF-9007-26DDC4F6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766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Concentration, risks, and category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1A65C-075E-43ED-8495-E61AAD06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Repeated bidder groups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E56FE-AD4D-4F19-BEA1-7CBFBFD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853ED-A6F5-46F1-8E51-13754D41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37357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EF0A9-10BF-42CD-A885-CC51AB52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74%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9B4DC-59CF-420E-90A3-C22F193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Award concentration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6D821-D4C7-46BB-8C79-755DFE1F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9592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D0C1E-289D-4BB0-94EF-E8BCE3B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95925"/>
            <a:ext cx="307943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C1ED4-DE40-49FB-ABCC-64F7A4A4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61%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BDA6D-B434-4468-9BDF-5FD0E6F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L1/L2/L3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093C5-D957-4605-8386-96FFA544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4357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33847-3B57-4FB1-AC2F-8D31E2E6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43575"/>
            <a:ext cx="26250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E12AF-AB8A-4769-8898-B2F111E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52%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11A5DF-1F62-4485-890D-7644A91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Public seller visibility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36A58-0DC7-44C3-8BB2-CD4BE7B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9122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3C205-E13B-4504-BB47-6371CB96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91225"/>
            <a:ext cx="19688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BB926A-D54E-4A86-8A79-0327458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6265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39%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8CF951-99AE-418E-96E2-43A0D0FB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Illustrative analytics grammar — live values are driven by imported public result records.</a:t>
            </a:r>
          </a:p>
        </p:txBody>
      </p:sp>
    </p:spTree>
    <p:extLst>
      <p:ext uri="{BB962C8B-B14F-4D97-AF65-F5344CB8AC3E}">
        <p14:creationId xmlns:p14="http://schemas.microsoft.com/office/powerpoint/2010/main" val="469526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B36EC-0715-4F7C-8580-F485B2D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3DFCC-CB2C-4054-A385-2702E98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0341E-5165-4F57-8A88-EA94B2A1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PRODUCT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1DEF-7C7E-4386-BA5A-336769D5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1187D-7937-4BAB-926F-CC767B1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0C259-9DA9-47E7-8F0E-49A2EF2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O P E R A T I N G   P R I N C I P L E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FDD1B-2196-4450-BAE9-C6CEE6B6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Built for useful intelligence with clear data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90DE6-7258-4200-BBB8-6D9BF79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makes source quality and limitations visible so teams can act responsibly.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0AB19-1481-4944-93CE-7CE8C7E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509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6EEBC-5F58-4F2B-A662-F67DB1E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79F67-57E4-4921-B725-AB5925A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432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Evidence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9F65E-AD7C-42FF-B383-5B5A27FF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Result links and source metadata stay attached to intelligence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6377E-19E7-42D1-AE1A-4232AE39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09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572E2-B3B6-4AE5-82E0-3BB3412F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5B6E3-CA77-4801-88F2-60BA7BC5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432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No false 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36115-CB10-4A24-BF09-4B0E07D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67075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Masked sellers, pending evaluation, and unavailable details remain explicit.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E3AFC-C4FD-482B-BB7E-6FBD7FF7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509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F0BA5-BEFE-46D1-B155-5CEF385A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D0B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35D0B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8A465-4C82-44CB-BDAC-78B9BF5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Role clarity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B9B54-C99F-463F-8090-CADD5B89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Seller operational workflow and buyer market intelligence are intentionally separated.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348F8-284D-4E57-BB0F-AEF6C6F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09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CE4D2-8336-4047-BD8C-756419AD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386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5B84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3A5FD-3474-4005-8BEF-2EA0532B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Actionable 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B88FF-69FE-497F-AF1F-9715F04A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3395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Reports focus on next decisions: bid, monitor, research, or prepare.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EBB75-AB1F-44E2-B4E0-445687F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43600"/>
            <a:ext cx="514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D335D-92FA-492A-A078-8B162EDF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91225"/>
            <a:ext cx="514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0A182B"/>
                </a:solidFill>
                <a:latin typeface="Avenir Next"/>
                <a:ea typeface="Avenir Next"/>
                <a:cs typeface="Avenir Next"/>
              </a:rPr>
              <a:t>TRUSTED WORKFLOWS NEED TRANSPARENT EVIDENCE</a:t>
            </a:r>
          </a:p>
        </p:txBody>
      </p:sp>
    </p:spTree>
    <p:extLst>
      <p:ext uri="{BB962C8B-B14F-4D97-AF65-F5344CB8AC3E}">
        <p14:creationId xmlns:p14="http://schemas.microsoft.com/office/powerpoint/2010/main" val="18100281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0EEC8-F0EB-4F58-B06C-552BA0E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F2ABF-A5D8-44EB-AE32-A8EC2FB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D5766-A737-4927-9616-CFF850C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81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TENDER AI  / 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84499-1F67-4E7F-BADC-7511D163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B1B35-B032-4AE4-9341-6212942D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D043-EAE8-4DEE-B55D-41FE639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N E X T   S T E P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5AB47-7097-485A-91DF-35D2859F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"/>
            <a:ext cx="923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Start with one buyer or one seller pipeline. Build the intelligence loop from there.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95231-5511-4338-81BA-CDDC18F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A practical rollout sequence keeps the first value visible and lets the data corpus compound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9FD24-2D20-43A2-B8F7-DC66DC1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D0BA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35D0B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CD66C-C444-40CA-9153-DA183264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413FC-22A7-4272-A899-A402CF2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Configure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13C58-088A-4217-A757-F73C2330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Company profile, criteria, EMD logic, alert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947DB-2CE7-46DA-9AF3-C2D6547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D0BA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35D0B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65096-F392-48E2-A089-2442F7A5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766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49982-AF9B-4170-81E1-BFF06D47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Connect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69B43-E1CD-48EE-8CEC-75237F87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GeM discovery, buyer directory, initial tender corpus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E8375-0404-4C0D-A01C-AD5C64DA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D0BA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35D0B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9C922-185A-4E4F-8307-CD1CAA78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766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AEC45-E485-4210-AB36-89EEFEF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433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Operate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D0AE7-7DF0-41AF-83DC-2E23654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Shortlist, bid workflow, document readiness, result sync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A6CBF-3268-43C8-A2D0-4DF0C11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B84B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5B84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887A8-F612-4F95-838D-3E4D9020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6B7D0-2054-4237-842F-4B28B19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6F0E7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247FD-A17A-4C73-8AD7-C594522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05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A8B4C5"/>
                </a:solidFill>
                <a:latin typeface="Avenir Next"/>
                <a:ea typeface="Avenir Next"/>
                <a:cs typeface="Avenir Next"/>
              </a:rPr>
              <a:t>Reports on competition, winners, L1/L2/L3, and next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CA7D2-77DE-4BA2-A742-AD1893F5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05BF8-3EB3-4A83-8F69-333C181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0E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F6F0E7"/>
                </a:solidFill>
                <a:latin typeface="Georgia"/>
                <a:ea typeface="Georgia"/>
                <a:cs typeface="Georgia"/>
              </a:rPr>
              <a:t>Tender AI — GeM tender discovery, bid execution, and procurement intelligence in one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556052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2026-08-24T06:06:50.7590000Z</dcterms:created>
  <dcterms:modified xsi:type="dcterms:W3CDTF">2026-08-24T06:06:50.7590000Z</dcterms:modified>
</coreProperties>
</file>